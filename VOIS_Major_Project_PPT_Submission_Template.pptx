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defRPr sz="2000" b="1">
                <a:solidFill>
                  <a:srgbClr val="323232"/>
                </a:solidFill>
              </a:defRPr>
            </a:pPr>
            <a:r>
              <a:t>Student Name: Vinit Chaurasia</a:t>
            </a:r>
            <a:endParaRPr lang="en-IN" b="0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College Name: [Your College Name]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02C57"/>
                </a:solidFill>
              </a:defRPr>
            </a:pPr>
            <a: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1">
                <a:solidFill>
                  <a:srgbClr val="E60000"/>
                </a:solidFill>
              </a:defRPr>
            </a:pPr>
            <a:r>
              <a:t>AICTE STU ID: [Your AICTE Student ID]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Major Data Analytics Project | VOIS Internship Program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  <a:defRPr b="1" sz="1700">
                <a:solidFill>
                  <a:srgbClr val="102C57"/>
                </a:solidFill>
              </a:defRPr>
            </a:pPr>
            <a:r>
              <a:t>• Agricultural Context: </a:t>
            </a:r>
            <a:r>
              <a:rPr b="0" sz="1600">
                <a:solidFill>
                  <a:srgbClr val="323232"/>
                </a:solidFill>
              </a:rPr>
              <a:t>Agricultural productivity in India is governed by distinct seasons (Kharif, Rabi, Zaid), resulting in dramatic variations in rainfall, temperature, humidity, and soil moisture.</a:t>
            </a:r>
            <a:endParaRPr lang="en-IN" sz="2800" dirty="0"/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• Core Industry Challenge: </a:t>
            </a:r>
            <a:r>
              <a:rPr b="0" sz="1600">
                <a:solidFill>
                  <a:srgbClr val="323232"/>
                </a:solidFill>
              </a:rPr>
              <a:t>Raw agricultural data does not clearly explain how farm management practices, resource usage (water, fertilizers, pesticides), and economic outcomes interact across seasonal cycles.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• Primary Objective: </a:t>
            </a:r>
            <a:r>
              <a:rPr b="0" sz="1600">
                <a:solidFill>
                  <a:srgbClr val="323232"/>
                </a:solidFill>
              </a:rPr>
              <a:t>Analyze 4,000 farm records across 8 states to investigate seasonal performance disparities, identify key yield drivers, assess water efficiency, and map disease/pest vulnerabilities.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• Key Questions Addressed: </a:t>
            </a:r>
            <a:r>
              <a:rPr b="0" sz="1600">
                <a:solidFill>
                  <a:srgbClr val="323232"/>
                </a:solidFill>
              </a:rPr>
              <a:t>Which season offers the highest return on investment? How do specific crops perform across seasons? Are observed differences across seasons statistically significant?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02C57"/>
                </a:solidFill>
              </a:defRPr>
            </a:pPr>
            <a:r>
              <a:t>Dataset Granularity: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Evaluates 4,000 farm records across 8 Indian States (Maharashtra, Karnataka, Andhra Pradesh, Gujarat, Punjab, Tamil Nadu, Telangana, Madhya Pradesh) spanning 28 physical, operational, and financial features.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Three-Season Analytical Framework: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• Kharif (Monsoon): High precipitation (avg 849 mm), peak moisture (31.1%), dominant output (5.63 t/ha), elevated pest risk (54.5%).</a:t>
            </a:r>
            <a:br/>
            <a:r>
              <a:t>• Rabi (Winter): Favorable cool climate (avg 23.5°C), stable productivity (5.04 t/ha), dependable cash margins.</a:t>
            </a:r>
            <a:br/>
            <a:r>
              <a:t>• Zaid (Summer): Extreme heat (avg 31.0°C), low rainfall (305 mm), peak water usage (6,420 m³), net deficits.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End-to-End Analytics Workflow: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Data Quality Auditing -&gt; Median Imputation -&gt; 1.5xIQR Outlier Assessment -&gt; Univariate/Bivariate/Multivariate EDA -&gt; Non-Parametric Hypothesis Testing (Kruskal-Wallis, Chi-Square, Spearman) -&gt; Decision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b="1" sz="1600">
                <a:solidFill>
                  <a:srgbClr val="102C57"/>
                </a:solidFill>
              </a:defRPr>
            </a:pPr>
            <a:r>
              <a:t>1. Farmers &amp; Farmer Producer Organizations (FPOs): </a:t>
            </a:r>
            <a:r>
              <a:rPr b="0" sz="1500">
                <a:solidFill>
                  <a:srgbClr val="323232"/>
                </a:solidFill>
              </a:rPr>
              <a:t>Enables data-driven seasonal crop selection to maximize profit margins (e.g. Chilli/Sugarcane) and avoids water-intensive cereal crops during water-deficit Zaid months.</a:t>
            </a:r>
            <a:endParaRPr lang="en-IN" sz="3600" dirty="0"/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2. Agricultural Extension Officers &amp; Agronomists: </a:t>
            </a:r>
            <a:r>
              <a:rPr b="0" sz="1500">
                <a:solidFill>
                  <a:srgbClr val="323232"/>
                </a:solidFill>
              </a:rPr>
              <a:t>Provides empirical evidence to advocate for precision micro-irrigation (Drip/Sprinkler) and proactive pest control before monsoon humidity surges.</a:t>
            </a:r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3. Policy Makers &amp; Ministry of Agriculture: </a:t>
            </a:r>
            <a:r>
              <a:rPr b="0" sz="1500">
                <a:solidFill>
                  <a:srgbClr val="323232"/>
                </a:solidFill>
              </a:rPr>
              <a:t>Directs targeted irrigation and power subsidies to water-stressed regions, and informs MSP procurement planning based on seasonal supply forecasts.</a:t>
            </a:r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4. Agri-Fintech, Banks &amp; Crop Insurance Providers: </a:t>
            </a:r>
            <a:r>
              <a:rPr b="0" sz="1500">
                <a:solidFill>
                  <a:srgbClr val="323232"/>
                </a:solidFill>
              </a:rPr>
              <a:t>Improves agricultural credit scoring, loan risk calibration, and premium pricing based on seasonal farm profitability dynamics.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  <a:defRPr b="1" sz="1600">
                <a:solidFill>
                  <a:srgbClr val="102C57"/>
                </a:solidFill>
              </a:defRPr>
            </a:pPr>
            <a:r>
              <a:t>• Programming Language: </a:t>
            </a:r>
            <a:r>
              <a:rPr b="0" sz="1500">
                <a:solidFill>
                  <a:srgbClr val="323232"/>
                </a:solidFill>
              </a:rPr>
              <a:t>Python 3.10 (High performance numerical execution &amp; data science ecosystem)</a:t>
            </a:r>
            <a:endParaRPr lang="en-IN" dirty="0"/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• Data Manipulation &amp; Profiling: </a:t>
            </a:r>
            <a:r>
              <a:rPr b="0" sz="1500">
                <a:solidFill>
                  <a:srgbClr val="323232"/>
                </a:solidFill>
              </a:rPr>
              <a:t>Pandas &amp; NumPy (DataFrames, GroupBy aggregations, missing value median imputation, IQR boundary modeling)</a:t>
            </a:r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• Exploratory Data Visualization: </a:t>
            </a:r>
            <a:r>
              <a:rPr b="0" sz="1500">
                <a:solidFill>
                  <a:srgbClr val="323232"/>
                </a:solidFill>
              </a:rPr>
              <a:t>Matplotlib &amp; Seaborn (Statistical heatmaps, grouped bar charts, KDE histograms, boxplots, pairplots)</a:t>
            </a:r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• Inferential &amp; Hypothesis Testing: </a:t>
            </a:r>
            <a:r>
              <a:rPr b="0" sz="1500">
                <a:solidFill>
                  <a:srgbClr val="323232"/>
                </a:solidFill>
              </a:rPr>
              <a:t>SciPy.stats (Kruskal-Wallis non-parametric H-tests, Chi-Square contingency analysis, Spearman rank correlation)</a:t>
            </a:r>
          </a:p>
          <a:p>
            <a:pPr>
              <a:defRPr b="1" sz="1600">
                <a:solidFill>
                  <a:srgbClr val="102C57"/>
                </a:solidFill>
              </a:defRPr>
            </a:pPr>
            <a:r>
              <a:t>• Environment &amp; Version Control: </a:t>
            </a:r>
            <a:r>
              <a:rPr b="0" sz="1500">
                <a:solidFill>
                  <a:srgbClr val="323232"/>
                </a:solidFill>
              </a:rPr>
              <a:t>Google Colab, Jupyter Notebooks, Git &amp; GitHub for reproducible open-source research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RESULTS: Executive Summary &amp; Seasonal Dynamics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2C57"/>
                </a:solidFill>
              </a:defRPr>
            </a:pPr>
            <a:r>
              <a:t>• Kharif (Peak Output): </a:t>
            </a:r>
            <a:r>
              <a:rPr b="0" sz="1300">
                <a:solidFill>
                  <a:srgbClr val="323232"/>
                </a:solidFill>
              </a:rPr>
              <a:t>Generates highest average yield (5.63 t/ha) and net profits (INR 178,914/farm; 51.5% profitable farms) supported by 849.2 mm monsoon rainfall.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Rabi (Seasonal Stability): </a:t>
            </a:r>
            <a:r>
              <a:rPr b="0" sz="1300">
                <a:solidFill>
                  <a:srgbClr val="323232"/>
                </a:solidFill>
              </a:rPr>
              <a:t>Steady productivity (5.04 t/ha) and positive margins (INR 87,689/farm) driven by controlled 23.5°C winter climate and reliable soil moisture.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Zaid (Deficit Period): </a:t>
            </a:r>
            <a:r>
              <a:rPr b="0" sz="1300">
                <a:solidFill>
                  <a:srgbClr val="323232"/>
                </a:solidFill>
              </a:rPr>
              <a:t>Financial stress phase (-INR 24,804/farm) with highest water consumption (6,419.9 m³) due to severe heat (31.0°C) and low rainfall (304.7 mm).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Water Efficiency: </a:t>
            </a:r>
            <a:r>
              <a:rPr b="0" sz="1300">
                <a:solidFill>
                  <a:srgbClr val="323232"/>
                </a:solidFill>
              </a:rPr>
              <a:t>Natural precipitation boosts Kharif water efficiency (5.89 t/1,000 m³), whereas Zaid yields lower output per unit volume of water.</a:t>
            </a:r>
          </a:p>
        </p:txBody>
      </p:sp>
      <p:pic>
        <p:nvPicPr>
          <p:cNvPr id="25" name="Picture 24" descr="result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17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RESULTS: Exploratory Data Analysis &amp; Distributions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2C57"/>
                </a:solidFill>
              </a:defRPr>
            </a:pPr>
            <a:r>
              <a:t>• Data Quality &amp; Cleaning: </a:t>
            </a:r>
            <a:r>
              <a:rPr b="0" sz="1300">
                <a:solidFill>
                  <a:srgbClr val="323232"/>
                </a:solidFill>
              </a:rPr>
              <a:t>Missingness in Rainfall (1.2%), Soil Moisture (1.0%), and Yield (0.8%) successfully resolved via median imputation. Zero duplicates detected across 4,000 rows.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Skewed Yield Profile: </a:t>
            </a:r>
            <a:r>
              <a:rPr b="0" sz="1300">
                <a:solidFill>
                  <a:srgbClr val="323232"/>
                </a:solidFill>
              </a:rPr>
              <a:t>Agricultural yield is right-skewed (median: 1.74 t/ha vs mean: 5.24 t/ha) due to massive biomass production in Sugarcane (up to 101.4 t/ha).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Profit Distribution: </a:t>
            </a:r>
            <a:r>
              <a:rPr b="0" sz="1300">
                <a:solidFill>
                  <a:srgbClr val="323232"/>
                </a:solidFill>
              </a:rPr>
              <a:t>Farm profit ranges from -INR 1.02M to +INR 4.35M (median: INR 3,673), demonstrating wide economic variance across crop types and seasonal windows.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Environmental Consistency: </a:t>
            </a:r>
            <a:r>
              <a:rPr b="0" sz="1300">
                <a:solidFill>
                  <a:srgbClr val="323232"/>
                </a:solidFill>
              </a:rPr>
              <a:t>Rainfall shows multi-modal distribution aligned with monsoon patterns, while Temperature and Humidity are normally distributed.</a:t>
            </a:r>
          </a:p>
        </p:txBody>
      </p:sp>
      <p:pic>
        <p:nvPicPr>
          <p:cNvPr id="32" name="Picture 31" descr="eda_un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17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RESULTS: Crop-Season Interactions &amp; Heatmaps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2C57"/>
                </a:solidFill>
              </a:defRPr>
            </a:pPr>
            <a:r>
              <a:t>• Sugarcane Dominance: </a:t>
            </a:r>
            <a:r>
              <a:rPr b="0" sz="1300">
                <a:solidFill>
                  <a:srgbClr val="323232"/>
                </a:solidFill>
              </a:rPr>
              <a:t>Achieves highest physical tonnage across all seasons (Kharif: 53.46 t/ha, Rabi: 43.29 t/ha, Zaid: 38.42 t/ha) and net profits exceeding INR 1.0M.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High-Margin Chilli: </a:t>
            </a:r>
            <a:r>
              <a:rPr b="0" sz="1300">
                <a:solidFill>
                  <a:srgbClr val="323232"/>
                </a:solidFill>
              </a:rPr>
              <a:t>Commands superior farm profit (Kharif: INR 954k, Rabi: INR 638k, Zaid: INR 448k) despite modest yield (~1.5 t/ha), benefiting from premium market price (&gt;INR 90,000/tonne).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Cereal Deficits (Rice &amp; Wheat): </a:t>
            </a:r>
            <a:r>
              <a:rPr b="0" sz="1300">
                <a:solidFill>
                  <a:srgbClr val="323232"/>
                </a:solidFill>
              </a:rPr>
              <a:t>Both staple crops suffer negative net profits across multiple seasons (-INR 64k to -INR 227k) due to high input costs relative to market realizations.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Water Efficiency Matrix: </a:t>
            </a:r>
            <a:r>
              <a:rPr b="0" sz="1300">
                <a:solidFill>
                  <a:srgbClr val="323232"/>
                </a:solidFill>
              </a:rPr>
              <a:t>Sugarcane achieves peak physical efficiency (36.0 t/1,000 m³ in Kharif), whereas Rice requires substantial water volumes for modest physical output.</a:t>
            </a:r>
          </a:p>
        </p:txBody>
      </p:sp>
      <p:pic>
        <p:nvPicPr>
          <p:cNvPr id="32" name="Picture 31" descr="crop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486400" cy="207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RESULTS: Statistical Hypothesis Testing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Rigorous non-parametric statistical tests were executed to validate that seasonal differences are genuine and statistically significant:</a:t>
            </a:r>
          </a:p>
          <a:p>
            <a:pPr>
              <a:defRPr b="1" sz="1300">
                <a:solidFill>
                  <a:srgbClr val="102C57"/>
                </a:solidFill>
              </a:defRPr>
            </a:pPr>
            <a:r>
              <a:t>• Yield across Seasons (Kruskal-Wallis): </a:t>
            </a:r>
            <a:r>
              <a:rPr b="0" sz="1300">
                <a:solidFill>
                  <a:srgbClr val="323232"/>
                </a:solidFill>
              </a:rPr>
              <a:t>H = 29.41, p = 4.11e-07 -&gt; Statistically Significant. Yield distributions differ significantly across Kharif, Rabi, and Zaid.</a:t>
            </a:r>
          </a:p>
          <a:p>
            <a:pPr>
              <a:defRPr b="1" sz="1300">
                <a:solidFill>
                  <a:srgbClr val="102C57"/>
                </a:solidFill>
              </a:defRPr>
            </a:pPr>
            <a:r>
              <a:t>• Profit across Seasons (Kruskal-Wallis): </a:t>
            </a:r>
            <a:r>
              <a:rPr b="0" sz="1300">
                <a:solidFill>
                  <a:srgbClr val="323232"/>
                </a:solidFill>
              </a:rPr>
              <a:t>H = 58.83, p = 1.68e-13 -&gt; Highly Significant. Farm profit is strongly season-dependent.</a:t>
            </a:r>
          </a:p>
          <a:p>
            <a:pPr>
              <a:defRPr b="1" sz="1300">
                <a:solidFill>
                  <a:srgbClr val="102C57"/>
                </a:solidFill>
              </a:defRPr>
            </a:pPr>
            <a:r>
              <a:t>• Irrigation Method Independence (Chi-Square): </a:t>
            </a:r>
            <a:r>
              <a:rPr b="0" sz="1300">
                <a:solidFill>
                  <a:srgbClr val="323232"/>
                </a:solidFill>
              </a:rPr>
              <a:t>Chi2 = 2.45, p = 0.8738 -&gt; Fail to Reject. Current irrigation method choices do not vary by season, indicating clear modernization opportunities.</a:t>
            </a:r>
          </a:p>
        </p:txBody>
      </p:sp>
      <p:pic>
        <p:nvPicPr>
          <p:cNvPr id="32" name="Picture 31" descr="hypothesis_testing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10698480" cy="36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RESULTS: Profitability Extremes &amp; Risk Assessment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2C57"/>
                </a:solidFill>
              </a:defRPr>
            </a:pPr>
            <a:r>
              <a:t>• Top 5 Profitable Combinations: </a:t>
            </a:r>
            <a:r>
              <a:rPr b="0" sz="1300">
                <a:solidFill>
                  <a:srgbClr val="323232"/>
                </a:solidFill>
              </a:rPr>
              <a:t>Sugarcane (Kharif: INR 1.00M), Chilli (Kharif: INR 954k), Sugarcane (Rabi: INR 732k), Chilli (Rabi: INR 639k), Sugarcane (Zaid: INR 584k).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Bottom 5 Deficit Combinations: </a:t>
            </a:r>
            <a:r>
              <a:rPr b="0" sz="1300">
                <a:solidFill>
                  <a:srgbClr val="323232"/>
                </a:solidFill>
              </a:rPr>
              <a:t>Rice (Zaid: -INR 227k), Maize (Zaid: -INR 194k), Wheat (Zaid: -INR 193k), Pulses (Zaid: -INR 139k), Wheat (Rabi: -INR 120k).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Disease &amp; Pest Vulnerability: </a:t>
            </a:r>
            <a:r>
              <a:rPr b="0" sz="1300">
                <a:solidFill>
                  <a:srgbClr val="323232"/>
                </a:solidFill>
              </a:rPr>
              <a:t>Pest risk is highest during Kharif (54.5%) due to monsoon humidity (71.8%) and elevated soil moisture (31.1%), dropping to 38.2% in Zaid.</a:t>
            </a:r>
          </a:p>
          <a:p>
            <a:pPr>
              <a:defRPr b="1" sz="1400">
                <a:solidFill>
                  <a:srgbClr val="102C57"/>
                </a:solidFill>
              </a:defRPr>
            </a:pPr>
            <a:r>
              <a:t>• Cost vs Revenue Trade-Off: </a:t>
            </a:r>
            <a:r>
              <a:rPr b="0" sz="1300">
                <a:solidFill>
                  <a:srgbClr val="323232"/>
                </a:solidFill>
              </a:rPr>
              <a:t>Average costs remain high (~INR 513k to 544k) across all seasons, but Kharif revenues (INR 711k) vastly surpass Zaid revenues (INR 519k).</a:t>
            </a:r>
          </a:p>
        </p:txBody>
      </p:sp>
      <p:pic>
        <p:nvPicPr>
          <p:cNvPr id="32" name="Picture 31" descr="top_bottom_combin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184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02C57"/>
                </a:solidFill>
              </a:defRPr>
            </a:pPr>
            <a:r>
              <a:t>1. Predictive Machine Learning Modeling: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Develop supervised machine learning pipelines (Random Forest, XGBoost, CatBoost) to forecast crop yields and compute profit probabilities before the sowing window.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2. IoT Sensor Integration &amp; Precision Agriculture: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Deploy field IoT sensor networks to continuously monitor soil moisture, micro-climates, and N-P-K nutrient depletion for automated, precision drip irrigation scheduling.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3. Satellite Remote Sensing &amp; NDVI Tracking: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Integrate multi-spectral satellite imagery (Sentinel-2 / Landsat) to track vegetation indices (NDVI/EVI), detecting crop stress, drought severity, and pest hotspots in real-time.</a:t>
            </a:r>
          </a:p>
          <a:p>
            <a:pPr>
              <a:defRPr b="1" sz="1700">
                <a:solidFill>
                  <a:srgbClr val="102C57"/>
                </a:solidFill>
              </a:defRPr>
            </a:pPr>
            <a:r>
              <a:t>4. Dynamic Digital Advisory &amp; Market Platform (DSS):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Build a bilingual mobile-first decision support application offering localized sowing recommendations, weather risk alerts, and real-time mandi market price trends to eliminate intermediary exploitation.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GitHub Repository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2C57"/>
                </a:solidFill>
              </a:defRPr>
            </a:pPr>
            <a:r>
              <a:t>Repository Link:</a:t>
            </a:r>
          </a:p>
          <a:p>
            <a:pPr>
              <a:defRPr sz="1700" b="1">
                <a:solidFill>
                  <a:srgbClr val="E60000"/>
                </a:solidFill>
              </a:defRPr>
            </a:pPr>
            <a:r>
              <a:t>https://github.com/AswiniKumar55/-Seasonal-Agriculture-Performance-Analysis-.git</a:t>
            </a:r>
          </a:p>
          <a:p>
            <a:br/>
            <a:pPr>
              <a:defRPr b="1" sz="1600">
                <a:solidFill>
                  <a:srgbClr val="102C57"/>
                </a:solidFill>
              </a:defRPr>
            </a:pPr>
            <a:r>
              <a:t>Repository Contents: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Seasonal_Agriculture_Performance_Data_Analytics.ipynb (Complete, clean Colab/Jupyter Notebook)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seasonal_agriculture_performance_dataset.csv (Cleaned &amp; imputed 4,000-record dataset)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High-resolution visualization exports, correlation matrices &amp; statistical testing scripts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Comprehensive project documentation, methodology reports, and rubric compliance verification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02C57"/>
                </a:solidFill>
              </a:defRPr>
            </a:pPr>
            <a:r>
              <a:t>VOIS Course Completion Certificate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1645920" y="1645920"/>
            <a:ext cx="8869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0000"/>
                </a:solidFill>
              </a:defRPr>
            </a:pPr>
            <a:r>
              <a:t>Course Name: Data Visualization</a:t>
            </a:r>
          </a:p>
          <a:p>
            <a:pPr algn="ctr">
              <a:defRPr sz="1600" i="1">
                <a:solidFill>
                  <a:srgbClr val="323232"/>
                </a:solidFill>
              </a:defRPr>
            </a:pPr>
            <a:br/>
            <a:br/>
            <a:r>
              <a:t>[ Insert your VOIS Data Visualization Course Completion Certificate Image Here ]</a:t>
            </a:r>
            <a:br/>
            <a:br/>
            <a:r>
              <a:t>(Right-click -&gt; Change Picture -&gt; Choose your certificate file)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>
              <a:defRPr sz="4400" b="1">
                <a:solidFill>
                  <a:srgbClr val="102C57"/>
                </a:solidFill>
              </a:defRPr>
            </a:pPr>
            <a:r>
              <a:t>Thank You!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/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2286000" y="2011680"/>
            <a:ext cx="7589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Seasonal Agriculture Performance Analysis</a:t>
            </a:r>
          </a:p>
          <a:p>
            <a:pPr algn="ctr">
              <a:defRPr sz="1800">
                <a:solidFill>
                  <a:srgbClr val="323232"/>
                </a:solidFill>
              </a:defRPr>
            </a:pPr>
            <a:r>
              <a:t>Major Data Analytics Project | VOIS Internship Program</a:t>
            </a:r>
            <a:br/>
          </a:p>
          <a:p>
            <a:pPr algn="ctr">
              <a:defRPr sz="2000" b="1">
                <a:solidFill>
                  <a:srgbClr val="E60000"/>
                </a:solidFill>
              </a:defRPr>
            </a:pPr>
            <a:r>
              <a:t>Open for 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